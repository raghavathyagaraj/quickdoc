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/>
    <p:restoredTop sz="94719"/>
  </p:normalViewPr>
  <p:slideViewPr>
    <p:cSldViewPr snapToGrid="0" snapToObjects="1">
      <p:cViewPr>
        <p:scale>
          <a:sx n="155" d="100"/>
          <a:sy n="155" d="100"/>
        </p:scale>
        <p:origin x="744" y="1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QuickDoc: Functional Decomposition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937760" y="1188720"/>
            <a:ext cx="2286000" cy="822960"/>
          </a:xfrm>
          <a:prstGeom prst="roundRect">
            <a:avLst/>
          </a:prstGeom>
          <a:solidFill>
            <a:srgbClr val="376092"/>
          </a:solidFill>
          <a:ln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QuickDoc</a:t>
            </a:r>
            <a:br/>
            <a:r>
              <a:t>Application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80760" y="2011680"/>
            <a:ext cx="0" cy="5486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188720" y="2560320"/>
            <a:ext cx="48920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88720" y="2560320"/>
            <a:ext cx="0" cy="15544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/>
          <p:cNvSpPr/>
          <p:nvPr/>
        </p:nvSpPr>
        <p:spPr>
          <a:xfrm rot="10800000">
            <a:off x="1115568" y="3977639"/>
            <a:ext cx="146304" cy="137160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65760" y="4114800"/>
            <a:ext cx="1645920" cy="822960"/>
          </a:xfrm>
          <a:prstGeom prst="roundRect">
            <a:avLst/>
          </a:prstGeom>
          <a:solidFill>
            <a:srgbClr val="B4C7E7"/>
          </a:solidFill>
          <a:ln>
            <a:solidFill>
              <a:srgbClr val="B4C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00000"/>
                </a:solidFill>
              </a:defRPr>
            </a:pPr>
            <a:r>
              <a:t>01. Account</a:t>
            </a:r>
            <a:br/>
            <a:r>
              <a:t>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1297" y="5029200"/>
            <a:ext cx="135485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00000"/>
                </a:solidFill>
              </a:defRPr>
            </a:pPr>
            <a:r>
              <a:rPr lang="en-US" dirty="0"/>
              <a:t>Sai Kumar Kuchipudi</a:t>
            </a:r>
            <a:endParaRPr dirty="0"/>
          </a:p>
        </p:txBody>
      </p:sp>
      <p:cxnSp>
        <p:nvCxnSpPr>
          <p:cNvPr id="10" name="Connector 9"/>
          <p:cNvCxnSpPr/>
          <p:nvPr/>
        </p:nvCxnSpPr>
        <p:spPr>
          <a:xfrm>
            <a:off x="6080760" y="2011680"/>
            <a:ext cx="0" cy="5486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3154679" y="2560320"/>
            <a:ext cx="2926081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154679" y="2560320"/>
            <a:ext cx="0" cy="15544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10800000">
            <a:off x="3081527" y="3977639"/>
            <a:ext cx="146304" cy="137160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331720" y="4114800"/>
            <a:ext cx="1645920" cy="822960"/>
          </a:xfrm>
          <a:prstGeom prst="roundRect">
            <a:avLst/>
          </a:prstGeom>
          <a:solidFill>
            <a:srgbClr val="B4C7E7"/>
          </a:solidFill>
          <a:ln>
            <a:solidFill>
              <a:srgbClr val="B4C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00000"/>
                </a:solidFill>
              </a:defRPr>
            </a:pPr>
            <a:r>
              <a:t>02. Doctor</a:t>
            </a:r>
            <a:br/>
            <a:r>
              <a:t>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6985" y="5029200"/>
            <a:ext cx="121539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00000"/>
                </a:solidFill>
              </a:defRPr>
            </a:pPr>
            <a:r>
              <a:rPr lang="en-US" dirty="0"/>
              <a:t>Priya Angel </a:t>
            </a:r>
            <a:r>
              <a:rPr lang="en-US" dirty="0" err="1"/>
              <a:t>Dasari</a:t>
            </a:r>
            <a:endParaRPr dirty="0"/>
          </a:p>
        </p:txBody>
      </p:sp>
      <p:cxnSp>
        <p:nvCxnSpPr>
          <p:cNvPr id="16" name="Connector 15"/>
          <p:cNvCxnSpPr/>
          <p:nvPr/>
        </p:nvCxnSpPr>
        <p:spPr>
          <a:xfrm>
            <a:off x="6080760" y="2011680"/>
            <a:ext cx="0" cy="5486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120640" y="2560320"/>
            <a:ext cx="0" cy="15544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10800000">
            <a:off x="5047488" y="3977639"/>
            <a:ext cx="146304" cy="137160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297680" y="4114800"/>
            <a:ext cx="1645920" cy="822960"/>
          </a:xfrm>
          <a:prstGeom prst="roundRect">
            <a:avLst/>
          </a:prstGeom>
          <a:solidFill>
            <a:srgbClr val="B4C7E7"/>
          </a:solidFill>
          <a:ln>
            <a:solidFill>
              <a:srgbClr val="B4C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00000"/>
                </a:solidFill>
              </a:defRPr>
            </a:pPr>
            <a:r>
              <a:t>03. Appointment</a:t>
            </a:r>
            <a:br/>
            <a:r>
              <a:t>Booking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0344" y="5029200"/>
            <a:ext cx="100059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00000"/>
                </a:solidFill>
              </a:defRPr>
            </a:pPr>
            <a:r>
              <a:rPr lang="en-US" dirty="0" err="1"/>
              <a:t>Yukta</a:t>
            </a:r>
            <a:r>
              <a:rPr lang="en-US" dirty="0"/>
              <a:t> </a:t>
            </a:r>
            <a:r>
              <a:rPr lang="en-US" dirty="0" err="1"/>
              <a:t>Chaubal</a:t>
            </a:r>
            <a:endParaRPr dirty="0"/>
          </a:p>
        </p:txBody>
      </p:sp>
      <p:cxnSp>
        <p:nvCxnSpPr>
          <p:cNvPr id="21" name="Connector 20"/>
          <p:cNvCxnSpPr/>
          <p:nvPr/>
        </p:nvCxnSpPr>
        <p:spPr>
          <a:xfrm>
            <a:off x="6080760" y="2011680"/>
            <a:ext cx="0" cy="5486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086600" y="2560320"/>
            <a:ext cx="0" cy="15544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0800000">
            <a:off x="7013448" y="3977639"/>
            <a:ext cx="146304" cy="137160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63640" y="4114800"/>
            <a:ext cx="1645920" cy="822960"/>
          </a:xfrm>
          <a:prstGeom prst="roundRect">
            <a:avLst/>
          </a:prstGeom>
          <a:solidFill>
            <a:srgbClr val="B4C7E7"/>
          </a:solidFill>
          <a:ln>
            <a:solidFill>
              <a:srgbClr val="B4C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00000"/>
                </a:solidFill>
              </a:defRPr>
            </a:pPr>
            <a:r>
              <a:t>04. Provider</a:t>
            </a:r>
            <a:br/>
            <a:r>
              <a:t>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2604" y="5029200"/>
            <a:ext cx="110799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00000"/>
                </a:solidFill>
              </a:defRPr>
            </a:pPr>
            <a:r>
              <a:rPr lang="en-US" dirty="0"/>
              <a:t>Karishma </a:t>
            </a:r>
            <a:r>
              <a:rPr lang="en-US" dirty="0" err="1"/>
              <a:t>Avhad</a:t>
            </a:r>
            <a:endParaRPr dirty="0"/>
          </a:p>
        </p:txBody>
      </p:sp>
      <p:cxnSp>
        <p:nvCxnSpPr>
          <p:cNvPr id="26" name="Connector 25"/>
          <p:cNvCxnSpPr/>
          <p:nvPr/>
        </p:nvCxnSpPr>
        <p:spPr>
          <a:xfrm>
            <a:off x="6080760" y="2011680"/>
            <a:ext cx="0" cy="5486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80760" y="2560320"/>
            <a:ext cx="29718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052560" y="2560320"/>
            <a:ext cx="0" cy="15544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10800000">
            <a:off x="8979408" y="3977639"/>
            <a:ext cx="146304" cy="137160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229600" y="4114800"/>
            <a:ext cx="1645920" cy="822960"/>
          </a:xfrm>
          <a:prstGeom prst="roundRect">
            <a:avLst/>
          </a:prstGeom>
          <a:solidFill>
            <a:srgbClr val="B4C7E7"/>
          </a:solidFill>
          <a:ln>
            <a:solidFill>
              <a:srgbClr val="B4C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00000"/>
                </a:solidFill>
              </a:defRPr>
            </a:pPr>
            <a:r>
              <a:t>05. Reviews &amp;</a:t>
            </a:r>
            <a:br/>
            <a:r>
              <a:t>Ratings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0362" y="5029200"/>
            <a:ext cx="132440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00000"/>
                </a:solidFill>
              </a:defRPr>
            </a:pPr>
            <a:r>
              <a:rPr lang="en-US" dirty="0" err="1"/>
              <a:t>Chalukya</a:t>
            </a:r>
            <a:r>
              <a:rPr lang="en-US" dirty="0"/>
              <a:t> </a:t>
            </a:r>
            <a:r>
              <a:rPr lang="en-US" dirty="0" err="1"/>
              <a:t>Garikapati</a:t>
            </a:r>
            <a:endParaRPr dirty="0"/>
          </a:p>
        </p:txBody>
      </p:sp>
      <p:cxnSp>
        <p:nvCxnSpPr>
          <p:cNvPr id="32" name="Connector 31"/>
          <p:cNvCxnSpPr/>
          <p:nvPr/>
        </p:nvCxnSpPr>
        <p:spPr>
          <a:xfrm>
            <a:off x="6080760" y="2011680"/>
            <a:ext cx="0" cy="5486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080760" y="2560320"/>
            <a:ext cx="49377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1018520" y="2560320"/>
            <a:ext cx="0" cy="15544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/>
          <p:cNvSpPr/>
          <p:nvPr/>
        </p:nvSpPr>
        <p:spPr>
          <a:xfrm rot="10800000">
            <a:off x="10945368" y="3977639"/>
            <a:ext cx="146304" cy="137160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10195560" y="4114800"/>
            <a:ext cx="1645920" cy="822960"/>
          </a:xfrm>
          <a:prstGeom prst="roundRect">
            <a:avLst/>
          </a:prstGeom>
          <a:solidFill>
            <a:srgbClr val="B4C7E7"/>
          </a:solidFill>
          <a:ln>
            <a:solidFill>
              <a:srgbClr val="B4C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00000"/>
                </a:solidFill>
              </a:defRPr>
            </a:pPr>
            <a:r>
              <a:t>06. Payment</a:t>
            </a:r>
            <a:br/>
            <a:r>
              <a:t>Management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89984" y="5029200"/>
            <a:ext cx="125707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00000"/>
                </a:solidFill>
              </a:defRPr>
            </a:pPr>
            <a:r>
              <a:rPr lang="en-US" dirty="0"/>
              <a:t>Raghava Thyagaraj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81350" y="-60382"/>
            <a:ext cx="47998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rPr sz="2800" dirty="0" err="1"/>
              <a:t>QuickDoc</a:t>
            </a:r>
            <a:r>
              <a:rPr sz="2800" dirty="0"/>
              <a:t>: Fish Bone Diagram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3520440"/>
            <a:ext cx="10241280" cy="0"/>
          </a:xfrm>
          <a:prstGeom prst="line">
            <a:avLst/>
          </a:prstGeom>
          <a:ln w="31750">
            <a:solidFill>
              <a:srgbClr val="3760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Isosceles Triangle 3"/>
          <p:cNvSpPr/>
          <p:nvPr/>
        </p:nvSpPr>
        <p:spPr>
          <a:xfrm rot="5400000">
            <a:off x="10424160" y="3429000"/>
            <a:ext cx="182880" cy="182880"/>
          </a:xfrm>
          <a:prstGeom prst="triangle">
            <a:avLst/>
          </a:prstGeom>
          <a:solidFill>
            <a:srgbClr val="37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607040" y="3154680"/>
            <a:ext cx="1280160" cy="731520"/>
          </a:xfrm>
          <a:prstGeom prst="rect">
            <a:avLst/>
          </a:prstGeom>
          <a:solidFill>
            <a:srgbClr val="B4C7E7"/>
          </a:solidFill>
          <a:ln w="25400"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76092"/>
                </a:solidFill>
              </a:defRPr>
            </a:pPr>
            <a:r>
              <a:rPr dirty="0" err="1"/>
              <a:t>QuickDoc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48639" y="569214"/>
            <a:ext cx="1920240" cy="411480"/>
          </a:xfrm>
          <a:prstGeom prst="rect">
            <a:avLst/>
          </a:prstGeom>
          <a:solidFill>
            <a:srgbClr val="B4C7E7"/>
          </a:solidFill>
          <a:ln w="19050"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76092"/>
                </a:solidFill>
              </a:defRPr>
            </a:pPr>
            <a:r>
              <a:rPr dirty="0"/>
              <a:t>1.Account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7918" y="1091310"/>
            <a:ext cx="5934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76092"/>
                </a:solidFill>
              </a:defRPr>
            </a:pPr>
            <a:r>
              <a:rPr b="1" dirty="0"/>
              <a:t>Register </a:t>
            </a:r>
            <a:endParaRPr lang="en-US" b="1" dirty="0"/>
          </a:p>
          <a:p>
            <a:pPr>
              <a:defRPr sz="900">
                <a:solidFill>
                  <a:srgbClr val="376092"/>
                </a:solidFill>
              </a:defRPr>
            </a:pPr>
            <a:r>
              <a:rPr b="1" dirty="0"/>
              <a:t>Patient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0546" y="1374386"/>
            <a:ext cx="57740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76092"/>
                </a:solidFill>
              </a:defRPr>
            </a:pPr>
            <a:r>
              <a:rPr b="1" dirty="0"/>
              <a:t>Register</a:t>
            </a:r>
            <a:endParaRPr lang="en-US" b="1" dirty="0"/>
          </a:p>
          <a:p>
            <a:pPr>
              <a:defRPr sz="900">
                <a:solidFill>
                  <a:srgbClr val="376092"/>
                </a:solidFill>
              </a:defRPr>
            </a:pPr>
            <a:r>
              <a:rPr b="1" dirty="0"/>
              <a:t> Doctor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0282" y="1856232"/>
            <a:ext cx="55656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76092"/>
                </a:solidFill>
              </a:defRPr>
            </a:pPr>
            <a:r>
              <a:rPr b="1" dirty="0"/>
              <a:t>Modify </a:t>
            </a:r>
            <a:endParaRPr lang="en-US" b="1" dirty="0"/>
          </a:p>
          <a:p>
            <a:pPr>
              <a:defRPr sz="900">
                <a:solidFill>
                  <a:srgbClr val="376092"/>
                </a:solidFill>
              </a:defRPr>
            </a:pPr>
            <a:r>
              <a:rPr b="1" dirty="0"/>
              <a:t>Profile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66283" y="2377679"/>
            <a:ext cx="72487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76092"/>
                </a:solidFill>
              </a:defRPr>
            </a:pPr>
            <a:r>
              <a:rPr b="1" dirty="0"/>
              <a:t>Deactivate </a:t>
            </a:r>
            <a:endParaRPr lang="en-US" b="1" dirty="0"/>
          </a:p>
          <a:p>
            <a:pPr>
              <a:defRPr sz="900">
                <a:solidFill>
                  <a:srgbClr val="376092"/>
                </a:solidFill>
              </a:defRPr>
            </a:pPr>
            <a:r>
              <a:rPr b="1" dirty="0"/>
              <a:t>Account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0663" y="2868032"/>
            <a:ext cx="50206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76092"/>
                </a:solidFill>
              </a:defRPr>
            </a:pPr>
            <a:r>
              <a:rPr b="1" dirty="0"/>
              <a:t>Show </a:t>
            </a:r>
            <a:endParaRPr lang="en-US" b="1" dirty="0"/>
          </a:p>
          <a:p>
            <a:pPr algn="r">
              <a:defRPr sz="900">
                <a:solidFill>
                  <a:srgbClr val="376092"/>
                </a:solidFill>
              </a:defRPr>
            </a:pPr>
            <a:r>
              <a:rPr b="1" dirty="0"/>
              <a:t>Profile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0" y="548640"/>
            <a:ext cx="1920240" cy="411480"/>
          </a:xfrm>
          <a:prstGeom prst="rect">
            <a:avLst/>
          </a:prstGeom>
          <a:solidFill>
            <a:srgbClr val="B4C7E7"/>
          </a:solidFill>
          <a:ln w="19050"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76092"/>
                </a:solidFill>
              </a:defRPr>
            </a:pPr>
            <a:r>
              <a:t>2. Doctor 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89150" y="1090067"/>
            <a:ext cx="110799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76092"/>
                </a:solidFill>
              </a:defRPr>
            </a:pPr>
            <a:r>
              <a:rPr b="1" dirty="0"/>
              <a:t>Search by Specialty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13462" y="1402787"/>
            <a:ext cx="108555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76092"/>
                </a:solidFill>
              </a:defRPr>
            </a:pPr>
            <a:r>
              <a:rPr b="1" dirty="0"/>
              <a:t>Search by Location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43148" y="1928891"/>
            <a:ext cx="84830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76092"/>
                </a:solidFill>
              </a:defRPr>
            </a:pPr>
            <a:r>
              <a:rPr b="1" dirty="0"/>
              <a:t>Add Favorites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02268" y="2414831"/>
            <a:ext cx="86113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76092"/>
                </a:solidFill>
              </a:defRPr>
            </a:pPr>
            <a:r>
              <a:rPr b="1" dirty="0"/>
              <a:t>Sort by Rating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32837" y="2933700"/>
            <a:ext cx="96051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76092"/>
                </a:solidFill>
              </a:defRPr>
            </a:pPr>
            <a:r>
              <a:rPr b="1" dirty="0"/>
              <a:t>Search by Name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42860" y="548640"/>
            <a:ext cx="1920240" cy="411480"/>
          </a:xfrm>
          <a:prstGeom prst="rect">
            <a:avLst/>
          </a:prstGeom>
          <a:solidFill>
            <a:srgbClr val="B4C7E7"/>
          </a:solidFill>
          <a:ln w="19050"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76092"/>
                </a:solidFill>
              </a:defRPr>
            </a:pPr>
            <a:r>
              <a:rPr dirty="0"/>
              <a:t>3. Appointment Booking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08949" y="1085088"/>
            <a:ext cx="102164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376092"/>
                </a:solidFill>
              </a:defRPr>
            </a:pPr>
            <a:r>
              <a:rPr b="1" dirty="0"/>
              <a:t>View Slots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89405" y="1929000"/>
            <a:ext cx="104736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376092"/>
                </a:solidFill>
              </a:defRPr>
            </a:pPr>
            <a:r>
              <a:rPr b="1" dirty="0"/>
              <a:t>Reschedule</a:t>
            </a:r>
          </a:p>
        </p:txBody>
      </p:sp>
      <p:sp>
        <p:nvSpPr>
          <p:cNvPr id="56" name="TextBox 55"/>
          <p:cNvSpPr txBox="1"/>
          <p:nvPr/>
        </p:nvSpPr>
        <p:spPr>
          <a:xfrm flipH="1">
            <a:off x="8780918" y="2346896"/>
            <a:ext cx="2362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376092"/>
                </a:solidFill>
              </a:defRPr>
            </a:pPr>
            <a:r>
              <a:rPr b="1" dirty="0"/>
              <a:t>Cancel Booking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28600" y="2926703"/>
            <a:ext cx="79861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76092"/>
                </a:solidFill>
              </a:defRPr>
            </a:pPr>
            <a:r>
              <a:rPr b="1" dirty="0"/>
              <a:t>View History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70441" y="6083046"/>
            <a:ext cx="1920240" cy="411480"/>
          </a:xfrm>
          <a:prstGeom prst="rect">
            <a:avLst/>
          </a:prstGeom>
          <a:solidFill>
            <a:srgbClr val="B4C7E7"/>
          </a:solidFill>
          <a:ln w="19050"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76092"/>
                </a:solidFill>
              </a:defRPr>
            </a:pPr>
            <a:r>
              <a:rPr dirty="0"/>
              <a:t>4. Provider Management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1954" y="5628134"/>
            <a:ext cx="73289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76092"/>
                </a:solidFill>
              </a:defRPr>
            </a:pPr>
            <a:r>
              <a:rPr b="1" dirty="0"/>
              <a:t>Add Doctor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74225" y="5177434"/>
            <a:ext cx="100059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76092"/>
                </a:solidFill>
              </a:defRPr>
            </a:pPr>
            <a:r>
              <a:rPr b="1" dirty="0"/>
              <a:t>Update Schedule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3216" y="4586470"/>
            <a:ext cx="114326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76092"/>
                </a:solidFill>
              </a:defRPr>
            </a:pPr>
            <a:r>
              <a:rPr b="1" dirty="0"/>
              <a:t>Manage Availability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840480" y="4293870"/>
            <a:ext cx="84670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76092"/>
                </a:solidFill>
              </a:defRPr>
            </a:pPr>
            <a:r>
              <a:rPr b="1" dirty="0"/>
              <a:t>View Patients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543076" y="3762610"/>
            <a:ext cx="106631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76092"/>
                </a:solidFill>
              </a:defRPr>
            </a:pPr>
            <a:r>
              <a:rPr b="1" dirty="0"/>
              <a:t>Show Contact Info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029200" y="6126480"/>
            <a:ext cx="1920240" cy="411480"/>
          </a:xfrm>
          <a:prstGeom prst="rect">
            <a:avLst/>
          </a:prstGeom>
          <a:solidFill>
            <a:srgbClr val="B4C7E7"/>
          </a:solidFill>
          <a:ln w="19050"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76092"/>
                </a:solidFill>
              </a:defRPr>
            </a:pPr>
            <a:r>
              <a:t>5. Reviews &amp; Ratings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811906" y="5609765"/>
            <a:ext cx="56137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76092"/>
                </a:solidFill>
              </a:defRPr>
            </a:pPr>
            <a:r>
              <a:rPr b="1" dirty="0"/>
              <a:t>Submit</a:t>
            </a:r>
            <a:endParaRPr lang="en-US" b="1" dirty="0"/>
          </a:p>
          <a:p>
            <a:pPr>
              <a:defRPr sz="900">
                <a:solidFill>
                  <a:srgbClr val="376092"/>
                </a:solidFill>
              </a:defRPr>
            </a:pPr>
            <a:r>
              <a:rPr b="1" dirty="0"/>
              <a:t> Review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905920" y="5285567"/>
            <a:ext cx="5116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76092"/>
                </a:solidFill>
              </a:defRPr>
            </a:pPr>
            <a:r>
              <a:rPr b="1" dirty="0"/>
              <a:t>Rate </a:t>
            </a:r>
            <a:endParaRPr lang="en-US" b="1" dirty="0"/>
          </a:p>
          <a:p>
            <a:pPr>
              <a:defRPr sz="900">
                <a:solidFill>
                  <a:srgbClr val="376092"/>
                </a:solidFill>
              </a:defRPr>
            </a:pPr>
            <a:r>
              <a:rPr b="1" dirty="0"/>
              <a:t>Doctor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226300" y="4695990"/>
            <a:ext cx="58221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76092"/>
                </a:solidFill>
              </a:defRPr>
            </a:pPr>
            <a:r>
              <a:rPr b="1" dirty="0"/>
              <a:t>View </a:t>
            </a:r>
            <a:endParaRPr lang="en-US" b="1" dirty="0"/>
          </a:p>
          <a:p>
            <a:pPr>
              <a:defRPr sz="900">
                <a:solidFill>
                  <a:srgbClr val="376092"/>
                </a:solidFill>
              </a:defRPr>
            </a:pPr>
            <a:r>
              <a:rPr b="1" dirty="0"/>
              <a:t>Reviews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328041" y="4273534"/>
            <a:ext cx="55656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76092"/>
                </a:solidFill>
              </a:defRPr>
            </a:pPr>
            <a:r>
              <a:rPr b="1" dirty="0"/>
              <a:t>Review</a:t>
            </a:r>
            <a:endParaRPr lang="en-US" b="1" dirty="0"/>
          </a:p>
          <a:p>
            <a:pPr algn="r">
              <a:defRPr sz="900">
                <a:solidFill>
                  <a:srgbClr val="376092"/>
                </a:solidFill>
              </a:defRPr>
            </a:pPr>
            <a:r>
              <a:rPr b="1" dirty="0"/>
              <a:t> History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226300" y="3814356"/>
            <a:ext cx="97975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76092"/>
                </a:solidFill>
              </a:defRPr>
            </a:pPr>
            <a:r>
              <a:rPr b="1" dirty="0"/>
              <a:t>Rating Summary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092440" y="6138201"/>
            <a:ext cx="1920240" cy="411480"/>
          </a:xfrm>
          <a:prstGeom prst="rect">
            <a:avLst/>
          </a:prstGeom>
          <a:solidFill>
            <a:srgbClr val="B4C7E7"/>
          </a:solidFill>
          <a:ln w="19050"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76092"/>
                </a:solidFill>
              </a:defRPr>
            </a:pPr>
            <a:r>
              <a:rPr dirty="0"/>
              <a:t>6. Payment Management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939276" y="5574767"/>
            <a:ext cx="61266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76092"/>
                </a:solidFill>
              </a:defRPr>
            </a:pPr>
            <a:r>
              <a:rPr b="1" dirty="0"/>
              <a:t>Process </a:t>
            </a:r>
            <a:endParaRPr lang="en-US" b="1" dirty="0"/>
          </a:p>
          <a:p>
            <a:pPr>
              <a:defRPr sz="900">
                <a:solidFill>
                  <a:srgbClr val="376092"/>
                </a:solidFill>
              </a:defRPr>
            </a:pPr>
            <a:r>
              <a:rPr b="1" dirty="0"/>
              <a:t>Payment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080724" y="5307479"/>
            <a:ext cx="89800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76092"/>
                </a:solidFill>
              </a:defRPr>
            </a:pPr>
            <a:r>
              <a:rPr b="1" dirty="0"/>
              <a:t>Manage Billing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153522" y="4718304"/>
            <a:ext cx="83227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76092"/>
                </a:solidFill>
              </a:defRPr>
            </a:pPr>
            <a:r>
              <a:rPr b="1" dirty="0"/>
              <a:t>Subscriptions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560818" y="4373713"/>
            <a:ext cx="57900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76092"/>
                </a:solidFill>
              </a:defRPr>
            </a:pPr>
            <a:r>
              <a:rPr b="1" dirty="0"/>
              <a:t>Refunds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666643" y="3842049"/>
            <a:ext cx="63831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76092"/>
                </a:solidFill>
              </a:defRPr>
            </a:pPr>
            <a:r>
              <a:rPr b="1" dirty="0"/>
              <a:t>Payment </a:t>
            </a:r>
            <a:endParaRPr lang="en-US" b="1" dirty="0"/>
          </a:p>
          <a:p>
            <a:pPr>
              <a:defRPr sz="900">
                <a:solidFill>
                  <a:srgbClr val="376092"/>
                </a:solidFill>
              </a:defRPr>
            </a:pPr>
            <a:r>
              <a:rPr b="1" dirty="0"/>
              <a:t>History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D52BD54-8F52-CFF3-2F63-FDB3D3352DFB}"/>
              </a:ext>
            </a:extLst>
          </p:cNvPr>
          <p:cNvSpPr txBox="1"/>
          <p:nvPr/>
        </p:nvSpPr>
        <p:spPr>
          <a:xfrm flipH="1">
            <a:off x="9476878" y="1461839"/>
            <a:ext cx="1223123" cy="229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376092"/>
                </a:solidFill>
              </a:defRPr>
            </a:pPr>
            <a:r>
              <a:rPr b="1" dirty="0"/>
              <a:t>Book Appointment</a:t>
            </a:r>
          </a:p>
        </p:txBody>
      </p: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E93706FB-9FA5-23BA-048C-4715CB82E0D7}"/>
              </a:ext>
            </a:extLst>
          </p:cNvPr>
          <p:cNvCxnSpPr>
            <a:cxnSpLocks/>
          </p:cNvCxnSpPr>
          <p:nvPr/>
        </p:nvCxnSpPr>
        <p:spPr>
          <a:xfrm>
            <a:off x="7924988" y="1186345"/>
            <a:ext cx="5924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4D52152D-1B3E-9EC9-E91B-2BB5E1815CA3}"/>
              </a:ext>
            </a:extLst>
          </p:cNvPr>
          <p:cNvCxnSpPr>
            <a:cxnSpLocks/>
          </p:cNvCxnSpPr>
          <p:nvPr/>
        </p:nvCxnSpPr>
        <p:spPr>
          <a:xfrm>
            <a:off x="8354936" y="2043084"/>
            <a:ext cx="676411" cy="51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DA11BA37-038B-011F-52EB-50A0B6FEC937}"/>
              </a:ext>
            </a:extLst>
          </p:cNvPr>
          <p:cNvCxnSpPr>
            <a:cxnSpLocks/>
          </p:cNvCxnSpPr>
          <p:nvPr/>
        </p:nvCxnSpPr>
        <p:spPr>
          <a:xfrm flipH="1" flipV="1">
            <a:off x="9322328" y="2445170"/>
            <a:ext cx="737593" cy="19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BFDAA721-9326-99B7-B1C1-ADF5C3D98EFE}"/>
              </a:ext>
            </a:extLst>
          </p:cNvPr>
          <p:cNvCxnSpPr>
            <a:cxnSpLocks/>
          </p:cNvCxnSpPr>
          <p:nvPr/>
        </p:nvCxnSpPr>
        <p:spPr>
          <a:xfrm flipH="1">
            <a:off x="8826017" y="1584253"/>
            <a:ext cx="639259" cy="16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17CF53D3-78C0-FCCE-36B0-07B2CBAE902F}"/>
              </a:ext>
            </a:extLst>
          </p:cNvPr>
          <p:cNvCxnSpPr>
            <a:cxnSpLocks/>
          </p:cNvCxnSpPr>
          <p:nvPr/>
        </p:nvCxnSpPr>
        <p:spPr>
          <a:xfrm>
            <a:off x="8896865" y="3029712"/>
            <a:ext cx="740596" cy="147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CDE99802-D8CF-9DB7-8B1B-E3602EBF794B}"/>
              </a:ext>
            </a:extLst>
          </p:cNvPr>
          <p:cNvCxnSpPr>
            <a:cxnSpLocks/>
          </p:cNvCxnSpPr>
          <p:nvPr/>
        </p:nvCxnSpPr>
        <p:spPr>
          <a:xfrm>
            <a:off x="4816946" y="981241"/>
            <a:ext cx="1082112" cy="25269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455AD33F-1A6F-5812-5440-B9E7ECB66128}"/>
              </a:ext>
            </a:extLst>
          </p:cNvPr>
          <p:cNvCxnSpPr>
            <a:cxnSpLocks/>
          </p:cNvCxnSpPr>
          <p:nvPr/>
        </p:nvCxnSpPr>
        <p:spPr>
          <a:xfrm>
            <a:off x="4234980" y="1208215"/>
            <a:ext cx="6570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94D4AF6F-1208-DD6E-F303-235988138D39}"/>
              </a:ext>
            </a:extLst>
          </p:cNvPr>
          <p:cNvCxnSpPr>
            <a:cxnSpLocks/>
          </p:cNvCxnSpPr>
          <p:nvPr/>
        </p:nvCxnSpPr>
        <p:spPr>
          <a:xfrm flipH="1">
            <a:off x="5051692" y="1514857"/>
            <a:ext cx="773633" cy="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431B4976-4532-FBCF-5645-C966149129A2}"/>
              </a:ext>
            </a:extLst>
          </p:cNvPr>
          <p:cNvCxnSpPr>
            <a:cxnSpLocks/>
          </p:cNvCxnSpPr>
          <p:nvPr/>
        </p:nvCxnSpPr>
        <p:spPr>
          <a:xfrm>
            <a:off x="4535654" y="2049080"/>
            <a:ext cx="719657" cy="151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B1673346-6640-6F7E-AD36-8CB9ACD6E68C}"/>
              </a:ext>
            </a:extLst>
          </p:cNvPr>
          <p:cNvCxnSpPr>
            <a:cxnSpLocks/>
          </p:cNvCxnSpPr>
          <p:nvPr/>
        </p:nvCxnSpPr>
        <p:spPr>
          <a:xfrm flipH="1">
            <a:off x="5492444" y="2522856"/>
            <a:ext cx="7189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99D95700-1A3A-0490-E4D5-ABBDBFFCD1B1}"/>
              </a:ext>
            </a:extLst>
          </p:cNvPr>
          <p:cNvCxnSpPr>
            <a:cxnSpLocks/>
          </p:cNvCxnSpPr>
          <p:nvPr/>
        </p:nvCxnSpPr>
        <p:spPr>
          <a:xfrm flipV="1">
            <a:off x="4846696" y="3058218"/>
            <a:ext cx="828277" cy="69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213D2BDA-7025-28B2-F1E9-7EE85C69752E}"/>
              </a:ext>
            </a:extLst>
          </p:cNvPr>
          <p:cNvCxnSpPr>
            <a:cxnSpLocks/>
          </p:cNvCxnSpPr>
          <p:nvPr/>
        </p:nvCxnSpPr>
        <p:spPr>
          <a:xfrm>
            <a:off x="1370268" y="966065"/>
            <a:ext cx="1214495" cy="25355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6164B5A9-65F4-545D-2EC5-2C3FAFD6A6ED}"/>
              </a:ext>
            </a:extLst>
          </p:cNvPr>
          <p:cNvCxnSpPr>
            <a:cxnSpLocks/>
          </p:cNvCxnSpPr>
          <p:nvPr/>
        </p:nvCxnSpPr>
        <p:spPr>
          <a:xfrm>
            <a:off x="801349" y="1277348"/>
            <a:ext cx="6570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C5103B02-9C52-F859-0C49-AC0F96F46F12}"/>
              </a:ext>
            </a:extLst>
          </p:cNvPr>
          <p:cNvCxnSpPr>
            <a:cxnSpLocks/>
          </p:cNvCxnSpPr>
          <p:nvPr/>
        </p:nvCxnSpPr>
        <p:spPr>
          <a:xfrm flipH="1">
            <a:off x="1685050" y="1562951"/>
            <a:ext cx="6124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5F0A5C8E-8242-D17A-3D48-2D61CEBD93B3}"/>
              </a:ext>
            </a:extLst>
          </p:cNvPr>
          <p:cNvCxnSpPr>
            <a:cxnSpLocks/>
          </p:cNvCxnSpPr>
          <p:nvPr/>
        </p:nvCxnSpPr>
        <p:spPr>
          <a:xfrm>
            <a:off x="922638" y="2044307"/>
            <a:ext cx="8833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B7F9E638-BE04-202D-96AC-465ACEBCC6A2}"/>
              </a:ext>
            </a:extLst>
          </p:cNvPr>
          <p:cNvCxnSpPr>
            <a:cxnSpLocks/>
          </p:cNvCxnSpPr>
          <p:nvPr/>
        </p:nvCxnSpPr>
        <p:spPr>
          <a:xfrm flipH="1">
            <a:off x="2167951" y="2522856"/>
            <a:ext cx="5828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C83AC58A-9706-EE86-F5CF-63992DFB7E95}"/>
              </a:ext>
            </a:extLst>
          </p:cNvPr>
          <p:cNvCxnSpPr>
            <a:cxnSpLocks/>
          </p:cNvCxnSpPr>
          <p:nvPr/>
        </p:nvCxnSpPr>
        <p:spPr>
          <a:xfrm>
            <a:off x="1005016" y="3058726"/>
            <a:ext cx="13656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73772F27-1584-CF62-3451-DEB749404C34}"/>
              </a:ext>
            </a:extLst>
          </p:cNvPr>
          <p:cNvCxnSpPr>
            <a:cxnSpLocks/>
          </p:cNvCxnSpPr>
          <p:nvPr/>
        </p:nvCxnSpPr>
        <p:spPr>
          <a:xfrm flipV="1">
            <a:off x="1987645" y="3527849"/>
            <a:ext cx="1601452" cy="253233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ED2638F9-7A9F-1046-97C0-97E6D6989AD5}"/>
              </a:ext>
            </a:extLst>
          </p:cNvPr>
          <p:cNvCxnSpPr>
            <a:cxnSpLocks/>
          </p:cNvCxnSpPr>
          <p:nvPr/>
        </p:nvCxnSpPr>
        <p:spPr>
          <a:xfrm>
            <a:off x="2664641" y="3886200"/>
            <a:ext cx="6570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242A1BAB-7E0A-644D-AE8E-DD8A81765E61}"/>
              </a:ext>
            </a:extLst>
          </p:cNvPr>
          <p:cNvCxnSpPr>
            <a:cxnSpLocks/>
          </p:cNvCxnSpPr>
          <p:nvPr/>
        </p:nvCxnSpPr>
        <p:spPr>
          <a:xfrm flipH="1">
            <a:off x="3075891" y="4407092"/>
            <a:ext cx="723672" cy="8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579C9CD6-E183-993F-C4AF-3F2EB154D54B}"/>
              </a:ext>
            </a:extLst>
          </p:cNvPr>
          <p:cNvCxnSpPr>
            <a:cxnSpLocks/>
          </p:cNvCxnSpPr>
          <p:nvPr/>
        </p:nvCxnSpPr>
        <p:spPr>
          <a:xfrm>
            <a:off x="2140349" y="4718304"/>
            <a:ext cx="6570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0738EA1D-704C-B67F-A0F3-88B57716CFBE}"/>
              </a:ext>
            </a:extLst>
          </p:cNvPr>
          <p:cNvCxnSpPr>
            <a:cxnSpLocks/>
          </p:cNvCxnSpPr>
          <p:nvPr/>
        </p:nvCxnSpPr>
        <p:spPr>
          <a:xfrm flipH="1">
            <a:off x="2468879" y="5309210"/>
            <a:ext cx="6598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41369E47-18BE-C853-16DE-48E3EF972C42}"/>
              </a:ext>
            </a:extLst>
          </p:cNvPr>
          <p:cNvCxnSpPr>
            <a:cxnSpLocks/>
          </p:cNvCxnSpPr>
          <p:nvPr/>
        </p:nvCxnSpPr>
        <p:spPr>
          <a:xfrm>
            <a:off x="1508759" y="5761656"/>
            <a:ext cx="6570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2CF419F8-63C7-E02B-7193-18A5D662318F}"/>
              </a:ext>
            </a:extLst>
          </p:cNvPr>
          <p:cNvCxnSpPr>
            <a:cxnSpLocks/>
          </p:cNvCxnSpPr>
          <p:nvPr/>
        </p:nvCxnSpPr>
        <p:spPr>
          <a:xfrm flipV="1">
            <a:off x="5899058" y="3499702"/>
            <a:ext cx="1236996" cy="26267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id="{9202BBAB-4517-FCA5-E522-0B09DE7F1FDF}"/>
              </a:ext>
            </a:extLst>
          </p:cNvPr>
          <p:cNvCxnSpPr>
            <a:cxnSpLocks/>
          </p:cNvCxnSpPr>
          <p:nvPr/>
        </p:nvCxnSpPr>
        <p:spPr>
          <a:xfrm>
            <a:off x="6202680" y="3948602"/>
            <a:ext cx="6570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8D94CE83-156B-3CA9-C0E5-5C66C5222A0F}"/>
              </a:ext>
            </a:extLst>
          </p:cNvPr>
          <p:cNvCxnSpPr>
            <a:cxnSpLocks/>
          </p:cNvCxnSpPr>
          <p:nvPr/>
        </p:nvCxnSpPr>
        <p:spPr>
          <a:xfrm flipH="1">
            <a:off x="6658180" y="4489129"/>
            <a:ext cx="625973" cy="51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9B55EF29-2DC4-0B7C-5D31-38751C309CC4}"/>
              </a:ext>
            </a:extLst>
          </p:cNvPr>
          <p:cNvCxnSpPr>
            <a:cxnSpLocks/>
          </p:cNvCxnSpPr>
          <p:nvPr/>
        </p:nvCxnSpPr>
        <p:spPr>
          <a:xfrm>
            <a:off x="5809528" y="4896612"/>
            <a:ext cx="6570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7EECDAA9-2E6B-08B3-8A34-2F7494DD8BE2}"/>
              </a:ext>
            </a:extLst>
          </p:cNvPr>
          <p:cNvCxnSpPr>
            <a:cxnSpLocks/>
          </p:cNvCxnSpPr>
          <p:nvPr/>
        </p:nvCxnSpPr>
        <p:spPr>
          <a:xfrm flipH="1">
            <a:off x="6206055" y="5438332"/>
            <a:ext cx="6929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C7149AE9-3AC9-772D-576C-24310A94C042}"/>
              </a:ext>
            </a:extLst>
          </p:cNvPr>
          <p:cNvCxnSpPr>
            <a:cxnSpLocks/>
          </p:cNvCxnSpPr>
          <p:nvPr/>
        </p:nvCxnSpPr>
        <p:spPr>
          <a:xfrm>
            <a:off x="5417130" y="5838444"/>
            <a:ext cx="6570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Arrow Connector 233">
            <a:extLst>
              <a:ext uri="{FF2B5EF4-FFF2-40B4-BE49-F238E27FC236}">
                <a16:creationId xmlns:a16="http://schemas.microsoft.com/office/drawing/2014/main" id="{E15F246D-2474-2E9F-588E-A8BE0377CDF9}"/>
              </a:ext>
            </a:extLst>
          </p:cNvPr>
          <p:cNvCxnSpPr>
            <a:cxnSpLocks/>
          </p:cNvCxnSpPr>
          <p:nvPr/>
        </p:nvCxnSpPr>
        <p:spPr>
          <a:xfrm flipV="1">
            <a:off x="9001141" y="3492550"/>
            <a:ext cx="1236996" cy="26267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Arrow Connector 234">
            <a:extLst>
              <a:ext uri="{FF2B5EF4-FFF2-40B4-BE49-F238E27FC236}">
                <a16:creationId xmlns:a16="http://schemas.microsoft.com/office/drawing/2014/main" id="{18159026-1151-F243-16F5-C31AC10B5384}"/>
              </a:ext>
            </a:extLst>
          </p:cNvPr>
          <p:cNvCxnSpPr>
            <a:cxnSpLocks/>
          </p:cNvCxnSpPr>
          <p:nvPr/>
        </p:nvCxnSpPr>
        <p:spPr>
          <a:xfrm>
            <a:off x="9304959" y="3993442"/>
            <a:ext cx="6570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8A7028BC-BA96-A5BD-1E7C-6730760F32F9}"/>
              </a:ext>
            </a:extLst>
          </p:cNvPr>
          <p:cNvCxnSpPr>
            <a:cxnSpLocks/>
          </p:cNvCxnSpPr>
          <p:nvPr/>
        </p:nvCxnSpPr>
        <p:spPr>
          <a:xfrm flipH="1" flipV="1">
            <a:off x="9761671" y="4462589"/>
            <a:ext cx="793042" cy="14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C8ADD6C9-D8C1-136E-8BFC-D864FD238CF6}"/>
              </a:ext>
            </a:extLst>
          </p:cNvPr>
          <p:cNvCxnSpPr>
            <a:cxnSpLocks/>
          </p:cNvCxnSpPr>
          <p:nvPr/>
        </p:nvCxnSpPr>
        <p:spPr>
          <a:xfrm>
            <a:off x="8906041" y="4838883"/>
            <a:ext cx="6570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Arrow Connector 240">
            <a:extLst>
              <a:ext uri="{FF2B5EF4-FFF2-40B4-BE49-F238E27FC236}">
                <a16:creationId xmlns:a16="http://schemas.microsoft.com/office/drawing/2014/main" id="{28B6662A-78BC-4FDC-D945-8A3C4D444307}"/>
              </a:ext>
            </a:extLst>
          </p:cNvPr>
          <p:cNvCxnSpPr>
            <a:cxnSpLocks/>
          </p:cNvCxnSpPr>
          <p:nvPr/>
        </p:nvCxnSpPr>
        <p:spPr>
          <a:xfrm flipH="1" flipV="1">
            <a:off x="9328239" y="5422895"/>
            <a:ext cx="793042" cy="14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Arrow Connector 241">
            <a:extLst>
              <a:ext uri="{FF2B5EF4-FFF2-40B4-BE49-F238E27FC236}">
                <a16:creationId xmlns:a16="http://schemas.microsoft.com/office/drawing/2014/main" id="{84A447C1-C3B8-DADA-61F4-E86E8C408D54}"/>
              </a:ext>
            </a:extLst>
          </p:cNvPr>
          <p:cNvCxnSpPr>
            <a:cxnSpLocks/>
          </p:cNvCxnSpPr>
          <p:nvPr/>
        </p:nvCxnSpPr>
        <p:spPr>
          <a:xfrm>
            <a:off x="8497487" y="5782642"/>
            <a:ext cx="6570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Straight Arrow Connector 243">
            <a:extLst>
              <a:ext uri="{FF2B5EF4-FFF2-40B4-BE49-F238E27FC236}">
                <a16:creationId xmlns:a16="http://schemas.microsoft.com/office/drawing/2014/main" id="{2C67D426-52B0-491D-6B5F-920735A6D5F6}"/>
              </a:ext>
            </a:extLst>
          </p:cNvPr>
          <p:cNvCxnSpPr>
            <a:cxnSpLocks/>
          </p:cNvCxnSpPr>
          <p:nvPr/>
        </p:nvCxnSpPr>
        <p:spPr>
          <a:xfrm>
            <a:off x="8452415" y="988010"/>
            <a:ext cx="1424888" cy="250104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149</Words>
  <Application>Microsoft Macintosh PowerPoint</Application>
  <PresentationFormat>Widescreen</PresentationFormat>
  <Paragraphs>63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Raghava, Mr. Thyagaraj</cp:lastModifiedBy>
  <cp:revision>3</cp:revision>
  <dcterms:created xsi:type="dcterms:W3CDTF">2013-01-27T09:14:16Z</dcterms:created>
  <dcterms:modified xsi:type="dcterms:W3CDTF">2026-02-25T13:36:57Z</dcterms:modified>
  <cp:category/>
</cp:coreProperties>
</file>