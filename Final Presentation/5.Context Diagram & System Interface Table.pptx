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64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2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530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724" y="-275410"/>
            <a:ext cx="11274552" cy="1231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000000"/>
                </a:solidFill>
              </a:rPr>
              <a:t>QuickDoc</a:t>
            </a:r>
            <a:r>
              <a:rPr lang="en-US" sz="2800" dirty="0"/>
              <a:t> -</a:t>
            </a:r>
            <a:r>
              <a:rPr lang="en-US" sz="2800" b="1" dirty="0">
                <a:solidFill>
                  <a:srgbClr val="000000"/>
                </a:solidFill>
              </a:rPr>
              <a:t>Context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07282" y="2514600"/>
            <a:ext cx="2651760" cy="1280160"/>
          </a:xfrm>
          <a:prstGeom prst="roundRect">
            <a:avLst/>
          </a:prstGeom>
          <a:solidFill>
            <a:srgbClr val="4472C4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0" y="25603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QuickDoc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Application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40276" y="658719"/>
            <a:ext cx="274320" cy="2743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65929" y="933039"/>
            <a:ext cx="0" cy="4572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91609" y="1130625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1331520" y="1390239"/>
            <a:ext cx="228600" cy="228594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561584" y="1359500"/>
            <a:ext cx="228600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812" y="163381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Patient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4793" y="2971800"/>
            <a:ext cx="274320" cy="2743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1953" y="3246120"/>
            <a:ext cx="0" cy="4572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8885" y="3451563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H="1">
            <a:off x="370744" y="3702147"/>
            <a:ext cx="274319" cy="26287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3" y="3702147"/>
            <a:ext cx="274317" cy="32003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3097" y="4022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Doctor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444470" y="5074920"/>
            <a:ext cx="274320" cy="2743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77436" y="5349240"/>
            <a:ext cx="0" cy="4572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12372" y="5532120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>
            <a:off x="1348836" y="5806440"/>
            <a:ext cx="228600" cy="27431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77436" y="5806439"/>
            <a:ext cx="228600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64685" y="6217917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Clinic Admin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73333" y="457200"/>
            <a:ext cx="1828800" cy="822960"/>
          </a:xfrm>
          <a:prstGeom prst="roundRect">
            <a:avLst/>
          </a:prstGeom>
          <a:solidFill>
            <a:srgbClr val="B4C7E7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973333" y="457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Payment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Gateway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75520" y="2814926"/>
            <a:ext cx="1828800" cy="822960"/>
          </a:xfrm>
          <a:prstGeom prst="roundRect">
            <a:avLst/>
          </a:prstGeom>
          <a:solidFill>
            <a:srgbClr val="B4C7E7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48407" y="27981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Email/SMS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Notification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861963" y="5884554"/>
            <a:ext cx="1828800" cy="822960"/>
          </a:xfrm>
          <a:prstGeom prst="roundRect">
            <a:avLst/>
          </a:prstGeom>
          <a:solidFill>
            <a:srgbClr val="B4C7E7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848406" y="590245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Clinical Labs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System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18762" y="5838106"/>
            <a:ext cx="1828800" cy="822960"/>
          </a:xfrm>
          <a:prstGeom prst="roundRect">
            <a:avLst/>
          </a:prstGeom>
          <a:solidFill>
            <a:srgbClr val="B4C7E7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18762" y="5788403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Ads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Management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80510" y="1391878"/>
            <a:ext cx="2838967" cy="1182429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563631" y="744417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- User Registration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- Search Doctors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- Book Appointments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- View Medical Records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- Make Payments</a:t>
            </a:r>
            <a:endParaRPr lang="en-US" sz="1000" b="1" dirty="0"/>
          </a:p>
        </p:txBody>
      </p:sp>
      <p:sp>
        <p:nvSpPr>
          <p:cNvPr id="33" name="Shape 31"/>
          <p:cNvSpPr/>
          <p:nvPr/>
        </p:nvSpPr>
        <p:spPr>
          <a:xfrm>
            <a:off x="1064685" y="3437914"/>
            <a:ext cx="3619092" cy="13649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314361" y="2672174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- Manage Schedule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- View Appointments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- Access Patient Info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- Update Profile</a:t>
            </a:r>
            <a:endParaRPr lang="en-US" sz="1000" b="1" dirty="0"/>
          </a:p>
        </p:txBody>
      </p:sp>
      <p:sp>
        <p:nvSpPr>
          <p:cNvPr id="35" name="Shape 33"/>
          <p:cNvSpPr/>
          <p:nvPr/>
        </p:nvSpPr>
        <p:spPr>
          <a:xfrm flipV="1">
            <a:off x="2034637" y="3724582"/>
            <a:ext cx="2718560" cy="1866332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952452" y="4354085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- Manage Doctors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- View Reports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- System Settings</a:t>
            </a:r>
            <a:endParaRPr lang="en-US" sz="1000" b="1" dirty="0"/>
          </a:p>
        </p:txBody>
      </p:sp>
      <p:sp>
        <p:nvSpPr>
          <p:cNvPr id="39" name="Text 37"/>
          <p:cNvSpPr/>
          <p:nvPr/>
        </p:nvSpPr>
        <p:spPr>
          <a:xfrm rot="19943062">
            <a:off x="7821476" y="1484050"/>
            <a:ext cx="1594746" cy="33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Payment Processing</a:t>
            </a:r>
            <a:endParaRPr lang="en-US" sz="1000" b="1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Transaction Status</a:t>
            </a:r>
            <a:endParaRPr lang="en-US" sz="1000" b="1" dirty="0"/>
          </a:p>
        </p:txBody>
      </p:sp>
      <p:sp>
        <p:nvSpPr>
          <p:cNvPr id="42" name="Text 40"/>
          <p:cNvSpPr/>
          <p:nvPr/>
        </p:nvSpPr>
        <p:spPr>
          <a:xfrm>
            <a:off x="7837187" y="320687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Send Notifications</a:t>
            </a:r>
            <a:endParaRPr lang="en-US" sz="1000" b="1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(Reminders, Confirmations)</a:t>
            </a:r>
            <a:endParaRPr lang="en-US" sz="1000" b="1" dirty="0"/>
          </a:p>
        </p:txBody>
      </p:sp>
      <p:sp>
        <p:nvSpPr>
          <p:cNvPr id="45" name="Text 43"/>
          <p:cNvSpPr/>
          <p:nvPr/>
        </p:nvSpPr>
        <p:spPr>
          <a:xfrm rot="2601786">
            <a:off x="7977395" y="4647841"/>
            <a:ext cx="14188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Lab Test Results</a:t>
            </a:r>
            <a:endParaRPr lang="en-US" sz="1000" b="1" dirty="0"/>
          </a:p>
        </p:txBody>
      </p:sp>
      <p:sp>
        <p:nvSpPr>
          <p:cNvPr id="46" name="Shape 44"/>
          <p:cNvSpPr/>
          <p:nvPr/>
        </p:nvSpPr>
        <p:spPr>
          <a:xfrm>
            <a:off x="6004220" y="3806295"/>
            <a:ext cx="29137" cy="2000144"/>
          </a:xfrm>
          <a:prstGeom prst="line">
            <a:avLst/>
          </a:prstGeom>
          <a:noFill/>
          <a:ln w="25400">
            <a:solidFill>
              <a:srgbClr val="70AD4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873434" y="4709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Ad Content &amp;</a:t>
            </a:r>
            <a:endParaRPr lang="en-US" sz="1000" b="1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User Analytics</a:t>
            </a:r>
            <a:endParaRPr lang="en-US" sz="1000" b="1" dirty="0"/>
          </a:p>
        </p:txBody>
      </p:sp>
      <p:sp>
        <p:nvSpPr>
          <p:cNvPr id="62" name="Shape 35">
            <a:extLst>
              <a:ext uri="{FF2B5EF4-FFF2-40B4-BE49-F238E27FC236}">
                <a16:creationId xmlns:a16="http://schemas.microsoft.com/office/drawing/2014/main" id="{2C5C898E-378C-5E94-C2DB-0D2EC313E0F7}"/>
              </a:ext>
            </a:extLst>
          </p:cNvPr>
          <p:cNvSpPr/>
          <p:nvPr/>
        </p:nvSpPr>
        <p:spPr>
          <a:xfrm flipV="1">
            <a:off x="7321574" y="1193341"/>
            <a:ext cx="2651759" cy="1388846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107DAA3-0052-2C83-4891-1F48A1F65032}"/>
              </a:ext>
            </a:extLst>
          </p:cNvPr>
          <p:cNvSpPr/>
          <p:nvPr/>
        </p:nvSpPr>
        <p:spPr>
          <a:xfrm>
            <a:off x="9192636" y="857694"/>
            <a:ext cx="543417" cy="510019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184B848-71A2-4BE5-4346-18FF54E05699}"/>
              </a:ext>
            </a:extLst>
          </p:cNvPr>
          <p:cNvSpPr/>
          <p:nvPr/>
        </p:nvSpPr>
        <p:spPr>
          <a:xfrm>
            <a:off x="8415090" y="2637196"/>
            <a:ext cx="543417" cy="510019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DBAA597-D35B-368B-8FB1-44F0BC6FC8CE}"/>
              </a:ext>
            </a:extLst>
          </p:cNvPr>
          <p:cNvSpPr/>
          <p:nvPr/>
        </p:nvSpPr>
        <p:spPr>
          <a:xfrm>
            <a:off x="5430120" y="4651720"/>
            <a:ext cx="543417" cy="510019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663FDC9-1F3E-D856-CE97-73BF6E4FF236}"/>
              </a:ext>
            </a:extLst>
          </p:cNvPr>
          <p:cNvSpPr/>
          <p:nvPr/>
        </p:nvSpPr>
        <p:spPr>
          <a:xfrm>
            <a:off x="8075432" y="4762141"/>
            <a:ext cx="543417" cy="510019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140F5B2-00FC-E718-0004-4D5412ADC293}"/>
              </a:ext>
            </a:extLst>
          </p:cNvPr>
          <p:cNvCxnSpPr/>
          <p:nvPr/>
        </p:nvCxnSpPr>
        <p:spPr>
          <a:xfrm>
            <a:off x="1348836" y="29464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2CB8128-0EA9-570F-964D-0E0F4135A161}"/>
              </a:ext>
            </a:extLst>
          </p:cNvPr>
          <p:cNvCxnSpPr>
            <a:cxnSpLocks/>
            <a:stCxn id="4" idx="3"/>
            <a:endCxn id="26" idx="1"/>
          </p:cNvCxnSpPr>
          <p:nvPr/>
        </p:nvCxnSpPr>
        <p:spPr>
          <a:xfrm>
            <a:off x="7406640" y="3200400"/>
            <a:ext cx="2441767" cy="91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743E84C-5498-97E5-82F3-83C72B351D83}"/>
              </a:ext>
            </a:extLst>
          </p:cNvPr>
          <p:cNvCxnSpPr>
            <a:cxnSpLocks/>
          </p:cNvCxnSpPr>
          <p:nvPr/>
        </p:nvCxnSpPr>
        <p:spPr>
          <a:xfrm flipH="1" flipV="1">
            <a:off x="7359042" y="3709141"/>
            <a:ext cx="2502921" cy="22344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</a:rPr>
              <a:t>System Interface Table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838836"/>
              </p:ext>
            </p:extLst>
          </p:nvPr>
        </p:nvGraphicFramePr>
        <p:xfrm>
          <a:off x="274318" y="641131"/>
          <a:ext cx="11457433" cy="5948855"/>
        </p:xfrm>
        <a:graphic>
          <a:graphicData uri="http://schemas.openxmlformats.org/drawingml/2006/table">
            <a:tbl>
              <a:tblPr/>
              <a:tblGrid>
                <a:gridCol w="535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77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58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Validation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1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Payment Processing - Sends payment request with amount, patient ID, and payment method to process transactions for consultations and services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QuickDoc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Payment Gateway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Real-time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Validate payment amount matches invoice; Verify patient ID exists; Check payment method is valid and not expired; Ensure amount is positive and within limits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1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1b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Transaction Status - Receives payment confirmation, transaction ID, and status (success/failure) after payment processing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Payment Gateway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QuickDoc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Real-time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Verify transaction ID format; Validate status code is recognized; Check timestamp is recent; Confirm amount matches original request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1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Send Notifications - Sends appointment reminders, booking confirmations, password resets, and system alerts to patients and doctors via email/SMS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QuickDoc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Email/SMS System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Event-based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Validate recipient email/phone format; Check message content is not empty; Verify notification type is valid; Ensure recipient has not opted out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1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Lab Test Results - Receives patient lab test results including test type, values, reference ranges, and interpretation from clinical laboratories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Clinical Labs System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QuickDoc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Scheduled/ Event-based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Verify patient ID matches existing record; Validate test result format and units; Check result values within plausible range; Confirm lab accreditation ID is valid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21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 Content Delivery - Receives targeted healthcare advertisements (pharma, medical devices, health plans) to display to users based on demographics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Ads Management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QuickDoc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Real-time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Verify ad content meets healthcare advertising guidelines; Check ad format is supported; Validate advertiser is approved; Ensure ad is not expired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21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4b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User Analytics - Sends anonymized user interaction data (impressions, clicks, demographics) for ad performance tracking and optimization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QuickDoc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Ads Management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Scheduled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Ensure data is properly anonymized (no PII); Validate metrics are within expected ranges; Check data format compliance; Verify timestamp accuracy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411</Words>
  <Application>Microsoft Macintosh PowerPoint</Application>
  <PresentationFormat>Widescreen</PresentationFormat>
  <Paragraphs>82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QuickDoc Context Diagram</dc:title>
  <dc:subject>PptxGenJS Presentation</dc:subject>
  <dc:creator>Team 4</dc:creator>
  <cp:lastModifiedBy>Raghava, Mr. Thyagaraj</cp:lastModifiedBy>
  <cp:revision>3</cp:revision>
  <dcterms:created xsi:type="dcterms:W3CDTF">2026-02-26T16:19:56Z</dcterms:created>
  <dcterms:modified xsi:type="dcterms:W3CDTF">2026-02-28T14:27:00Z</dcterms:modified>
</cp:coreProperties>
</file>